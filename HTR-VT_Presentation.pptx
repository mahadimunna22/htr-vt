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5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A5A66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A5A66"/>
                </a:solidFill>
                <a:latin typeface="Calibri"/>
              </a:rPr>
              <a:t>Illustrative loss landscape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 minimum</c:v>
                </c:pt>
              </c:strCache>
            </c:strRef>
          </c:tx>
          <c:spPr>
            <a:solidFill>
              <a:srgbClr val="6E7A99"/>
            </a:solidFill>
            <a:ln w="38100" cap="flat">
              <a:solidFill>
                <a:srgbClr val="6E7A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E7A99"/>
              </a:solidFill>
              <a:ln w="9525" cap="flat">
                <a:solidFill>
                  <a:srgbClr val="6E7A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-3</c:v>
                  </c:pt>
                  <c:pt idx="1">
                    <c:v>-2</c:v>
                  </c:pt>
                  <c:pt idx="2">
                    <c:v>-1</c:v>
                  </c:pt>
                  <c:pt idx="3">
                    <c:v>0</c:v>
                  </c:pt>
                  <c:pt idx="4">
                    <c:v>1</c:v>
                  </c:pt>
                  <c:pt idx="5">
                    <c:v>2</c:v>
                  </c:pt>
                  <c:pt idx="6">
                    <c:v>3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13.5</c:v>
                </c:pt>
                <c:pt idx="1">
                  <c:v>6</c:v>
                </c:pt>
                <c:pt idx="2">
                  <c:v>1.5</c:v>
                </c:pt>
                <c:pt idx="3">
                  <c:v>0</c:v>
                </c:pt>
                <c:pt idx="4">
                  <c:v>1.5</c:v>
                </c:pt>
                <c:pt idx="5">
                  <c:v>6</c:v>
                </c:pt>
                <c:pt idx="6">
                  <c:v>13.5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Flat minimum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-3</c:v>
                  </c:pt>
                  <c:pt idx="1">
                    <c:v>-2</c:v>
                  </c:pt>
                  <c:pt idx="2">
                    <c:v>-1</c:v>
                  </c:pt>
                  <c:pt idx="3">
                    <c:v>0</c:v>
                  </c:pt>
                  <c:pt idx="4">
                    <c:v>1</c:v>
                  </c:pt>
                  <c:pt idx="5">
                    <c:v>2</c:v>
                  </c:pt>
                  <c:pt idx="6">
                    <c:v>3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4.55</c:v>
                </c:pt>
                <c:pt idx="1">
                  <c:v>1.3</c:v>
                </c:pt>
                <c:pt idx="2">
                  <c:v>0.55</c:v>
                </c:pt>
                <c:pt idx="3">
                  <c:v>0.5</c:v>
                </c:pt>
                <c:pt idx="4">
                  <c:v>0.55</c:v>
                </c:pt>
                <c:pt idx="5">
                  <c:v>1.3</c:v>
                </c:pt>
                <c:pt idx="6">
                  <c:v>4.55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A5A66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A5A66"/>
                </a:solidFill>
                <a:latin typeface="Calibri"/>
              </a:rPr>
              <a:t>Test CER (%) —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CER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LAM</c:v>
                  </c:pt>
                  <c:pt idx="1">
                    <c:v>IAM</c:v>
                  </c:pt>
                  <c:pt idx="2">
                    <c:v>READ2016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2.8</c:v>
                </c:pt>
                <c:pt idx="1">
                  <c:v>4.7</c:v>
                </c:pt>
                <c:pt idx="2">
                  <c:v>3.9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B2B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A5A66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A5A66"/>
                </a:solidFill>
                <a:latin typeface="Calibri"/>
              </a:rPr>
              <a:t>Test CER (%) —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Paper (bs=128)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B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READ2016</c:v>
                  </c:pt>
                  <c:pt idx="1">
                    <c:v>LAM</c:v>
                  </c:pt>
                  <c:pt idx="2">
                    <c:v>IAM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3.9</c:v>
                </c:pt>
                <c:pt idx="1">
                  <c:v>2.8</c:v>
                </c:pt>
                <c:pt idx="2">
                  <c:v>4.7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Ours (bs=32)</c:v>
                </c:pt>
              </c:strCache>
            </c:strRef>
          </c:tx>
          <c:spPr>
            <a:solidFill>
              <a:srgbClr val="6E7A9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B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READ2016</c:v>
                  </c:pt>
                  <c:pt idx="1">
                    <c:v>LAM</c:v>
                  </c:pt>
                  <c:pt idx="2">
                    <c:v>IAM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3.86</c:v>
                </c:pt>
                <c:pt idx="1">
                  <c:v>3.06</c:v>
                </c:pt>
                <c:pt idx="2">
                  <c:v>5.18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B2B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B2B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CER (%)</c:v>
                </c:pt>
              </c:strCache>
            </c:strRef>
          </c:tx>
          <c:spPr>
            <a:solidFill>
              <a:srgbClr val="B7C1D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B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7C1D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C9B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F5F9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Clean</c:v>
                  </c:pt>
                  <c:pt idx="1">
                    <c:v>Contrast ×3</c:v>
                  </c:pt>
                  <c:pt idx="2">
                    <c:v>Blur σ=3</c:v>
                  </c:pt>
                  <c:pt idx="3">
                    <c:v>Rotate 10°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5.18</c:v>
                </c:pt>
                <c:pt idx="1">
                  <c:v>5.18</c:v>
                </c:pt>
                <c:pt idx="2">
                  <c:v>23.28</c:v>
                </c:pt>
                <c:pt idx="3">
                  <c:v>45.34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B2B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A5A66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A5A66"/>
                </a:solidFill>
                <a:latin typeface="Calibri"/>
              </a:rPr>
              <a:t>Test CER (%) vs. fraction of LAM training data used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CER (%)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25%</c:v>
                  </c:pt>
                  <c:pt idx="1">
                    <c:v>50%</c:v>
                  </c:pt>
                  <c:pt idx="2">
                    <c:v>75%</c:v>
                  </c:pt>
                  <c:pt idx="3">
                    <c:v>100%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3.86</c:v>
                </c:pt>
                <c:pt idx="1">
                  <c:v>3.38</c:v>
                </c:pt>
                <c:pt idx="2">
                  <c:v>3.11</c:v>
                </c:pt>
                <c:pt idx="3">
                  <c:v>3.06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B2B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659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HTR-VT</a:t>
            </a:r>
            <a:endParaRPr lang="en-US" sz="58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0175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Text Recognition with Vision Transformer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Reproduction &amp; Extended Analysis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Li, Chen, Tang &amp; Shen  ·  Pattern Recognition,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53619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96596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task, why plain Vision Transformers fail on it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903720" y="153619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HTR-VT Works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96596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architectural tricks, explained mechanistically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95351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&amp; Published Results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3832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IAM, READ2016, LAM — and how HTR-VT compares to prior work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95351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Reproduction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33832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engineering journey, and how closely we matched the paper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437083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Experiments Beyond the Paper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8006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Generalization, robustness, data efficiency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437083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 &amp; Discussion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48006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holds up, what doesn't, and open questions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a Computer to Read Handwriting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 image of one handwritten line, output the text it contains.
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hard: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8036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person's handwriting looks different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documents: faded ink, stains, noisy backgrounds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spacing between characters to “cut” 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40880" y="1463040"/>
            <a:ext cx="4663440" cy="4206240"/>
          </a:xfrm>
          <a:prstGeom prst="roundRect">
            <a:avLst>
              <a:gd name="adj" fmla="val 1739"/>
            </a:avLst>
          </a:prstGeom>
          <a:solidFill>
            <a:srgbClr val="F5F5F7"/>
          </a:solidFill>
          <a:ln w="12700">
            <a:solidFill>
              <a:srgbClr val="DCDC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traditional recipe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98080" y="2377440"/>
            <a:ext cx="12801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0" y="23774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006840" y="23774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local visual patterns (strokes, loops, shapes)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3063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98080" y="3474720"/>
            <a:ext cx="12801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0" y="34747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006840" y="34747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features in order, left to right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47091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“CRNN” has been the standard approach for years.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Just Use a Vision Transformer?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Transformers (ViT) are powerful — but they carry almost no built-in assumptions about images.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means they need substantial amounts of data to learn well.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749040"/>
            <a:ext cx="6035040" cy="2011680"/>
          </a:xfrm>
          <a:prstGeom prst="roundRect">
            <a:avLst>
              <a:gd name="adj" fmla="val 3636"/>
            </a:avLst>
          </a:prstGeom>
          <a:solidFill>
            <a:srgbClr val="F5F5F7"/>
          </a:solidFill>
          <a:ln w="12700">
            <a:solidFill>
              <a:srgbClr val="DCDC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 datasets are tiny by comparison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251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6,482 – 19,830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9834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lines available, vs. the millions of images ViT normally needs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49440" y="1463040"/>
            <a:ext cx="4754880" cy="42976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23760" y="1691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plain ViT performs badly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2331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6060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374904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error rate on the LAM dataset — far worse than every other method tested in the paper.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HTR-VT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Simple Tricks Make ViT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5F5F7"/>
          </a:solidFill>
          <a:ln w="12700">
            <a:solidFill>
              <a:srgbClr val="DCDC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feature extractor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375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ResNet-18 extracts good local features before the transformer ever sees the image — instead of raw patches.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155448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5F5F7"/>
          </a:solidFill>
          <a:ln w="12700">
            <a:solidFill>
              <a:srgbClr val="DCDC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Span masking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33375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chunks of the image features during training and make the model guess them — like fill-in-the-blank.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55448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5F5F7"/>
          </a:solidFill>
          <a:ln w="12700">
            <a:solidFill>
              <a:srgbClr val="DCDC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 optimizer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3375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training technique that nudges the model toward more stable, generalizable solutions.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56235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pretraining. No extra data. Trained from scratch in ~16 hours on one GPU.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three slides look at each trick in more detail.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HTR-VT WORKS — DEEP DIVE 1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5780" y="201168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DC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25780" y="201168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image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(512×64)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28316" y="2505456"/>
            <a:ext cx="246888" cy="201168"/>
          </a:xfrm>
          <a:prstGeom prst="rightArrow">
            <a:avLst/>
          </a:prstGeom>
          <a:solidFill>
            <a:srgbClr val="DCDCE2"/>
          </a:solidFill>
          <a:ln/>
        </p:spPr>
      </p:sp>
      <p:sp>
        <p:nvSpPr>
          <p:cNvPr id="7" name="Shape 5"/>
          <p:cNvSpPr/>
          <p:nvPr/>
        </p:nvSpPr>
        <p:spPr>
          <a:xfrm>
            <a:off x="2811780" y="201168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DC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11780" y="201168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14316" y="2505456"/>
            <a:ext cx="246888" cy="201168"/>
          </a:xfrm>
          <a:prstGeom prst="rightArrow">
            <a:avLst/>
          </a:prstGeom>
          <a:solidFill>
            <a:srgbClr val="DCDCE2"/>
          </a:solidFill>
          <a:ln/>
        </p:spPr>
      </p:sp>
      <p:sp>
        <p:nvSpPr>
          <p:cNvPr id="10" name="Shape 8"/>
          <p:cNvSpPr/>
          <p:nvPr/>
        </p:nvSpPr>
        <p:spPr>
          <a:xfrm>
            <a:off x="5097780" y="201168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DC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97780" y="201168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feature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00316" y="2505456"/>
            <a:ext cx="246888" cy="201168"/>
          </a:xfrm>
          <a:prstGeom prst="rightArrow">
            <a:avLst/>
          </a:prstGeom>
          <a:solidFill>
            <a:srgbClr val="DCDCE2"/>
          </a:solidFill>
          <a:ln/>
        </p:spPr>
      </p:sp>
      <p:sp>
        <p:nvSpPr>
          <p:cNvPr id="13" name="Shape 11"/>
          <p:cNvSpPr/>
          <p:nvPr/>
        </p:nvSpPr>
        <p:spPr>
          <a:xfrm>
            <a:off x="7383780" y="201168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DC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83780" y="201168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× 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386316" y="2505456"/>
            <a:ext cx="246888" cy="201168"/>
          </a:xfrm>
          <a:prstGeom prst="rightArrow">
            <a:avLst/>
          </a:prstGeom>
          <a:solidFill>
            <a:srgbClr val="DCDCE2"/>
          </a:solidFill>
          <a:ln/>
        </p:spPr>
      </p:sp>
      <p:sp>
        <p:nvSpPr>
          <p:cNvPr id="16" name="Shape 14"/>
          <p:cNvSpPr/>
          <p:nvPr/>
        </p:nvSpPr>
        <p:spPr>
          <a:xfrm>
            <a:off x="9669780" y="201168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12700">
            <a:solidFill>
              <a:srgbClr val="DCDC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69780" y="201168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decode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80160" y="4114800"/>
            <a:ext cx="9601200" cy="1737360"/>
          </a:xfrm>
          <a:prstGeom prst="roundRect">
            <a:avLst>
              <a:gd name="adj" fmla="val 4211"/>
            </a:avLst>
          </a:prstGeom>
          <a:solidFill>
            <a:srgbClr val="F5F5F7"/>
          </a:solidFill>
          <a:ln w="12700">
            <a:solidFill>
              <a:srgbClr val="DCDC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554480" y="4297680"/>
            <a:ext cx="9052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choice: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ViT splits the image into raw patches and projects them linearly. HTR-VT replaces that step with a ResNet-18 — giving the transformer features that already encode local stroke structure, which the paper shows is the single biggest stabilizer for training on small datasets.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HTR-VT WORKS — DEEP DIVE 2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Span Masking: Fill-in-the-Blank for Images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training, contiguous spans of feature tokens are replaced with a learnable “mask” token. The model must predict the character sequence despite missing information — forcing it to use surrounding context instead of memorizing local shapes.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14984" y="2651760"/>
            <a:ext cx="7772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65376" y="2651760"/>
            <a:ext cx="7772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15768" y="2651760"/>
            <a:ext cx="777240" cy="5486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15768" y="26517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66160" y="2651760"/>
            <a:ext cx="777240" cy="5486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26517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16552" y="2651760"/>
            <a:ext cx="7772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66944" y="2651760"/>
            <a:ext cx="7772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17336" y="2651760"/>
            <a:ext cx="7772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67728" y="2651760"/>
            <a:ext cx="777240" cy="5486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67728" y="26517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2651760"/>
            <a:ext cx="777240" cy="5486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18120" y="26517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68512" y="2651760"/>
            <a:ext cx="7772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18904" y="2651760"/>
            <a:ext cx="7772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69296" y="2651760"/>
            <a:ext cx="7772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429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tokens along the text line — shaded tokens are masked and replaced with a learnable embedding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280160" y="4023360"/>
            <a:ext cx="9601200" cy="1920240"/>
          </a:xfrm>
          <a:prstGeom prst="roundRect">
            <a:avLst>
              <a:gd name="adj" fmla="val 3810"/>
            </a:avLst>
          </a:prstGeom>
          <a:solidFill>
            <a:srgbClr val="F5F5F7"/>
          </a:solidFill>
          <a:ln w="12700">
            <a:solidFill>
              <a:srgbClr val="DCDC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554480" y="4206240"/>
            <a:ext cx="9052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from the paper's attention visualizations: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masking, each token mostly attends to itself. With span masking, tokens attend to a much broader context — the mechanism that gives the consistent accuracy gain across all three datasets.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HTR-VT WORKS — DEEP DIVE 3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SAM: Seeking Flatter Minima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training just minimizes the loss. Sharpness-Aware Minimization (SAM) instead looks for parameters that stay low-loss even under a small perturbation — a “flat” region of the loss landscape, which tends to generalize better to unseen data.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2651760"/>
          <a:ext cx="6949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092440" y="265176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5F5F7"/>
          </a:solidFill>
          <a:ln w="12700">
            <a:solidFill>
              <a:srgbClr val="DCDCE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321040" y="2880360"/>
            <a:ext cx="3154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6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minimum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training loss, but a tiny shift in parameters (or a slightly different test example) causes a big jump in loss. Prone to overfitting.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minimum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stays low across a wider region — more robust to the natural variation in handwriting the model wasn't trained on.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Handwriting Datasets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47120" cy="237744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/ Era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Lines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· Modern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READ2016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 · 1500s–1600s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Italian · Historical manuscripts (largest)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19,830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3891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and READ2016 are long-standing benchmarks. LAM (2022) is the largest line-level dataset available — and the paper's headline result.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HTR-VT's Published Results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554480"/>
            <a:ext cx="4297680" cy="4206240"/>
          </a:xfrm>
          <a:prstGeom prst="roundRect">
            <a:avLst>
              <a:gd name="adj" fmla="val 1739"/>
            </a:avLst>
          </a:prstGeom>
          <a:solidFill>
            <a:srgbClr val="F5F5F7"/>
          </a:solidFill>
          <a:ln w="12700">
            <a:solidFill>
              <a:srgbClr val="DCDCE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8096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stands out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228600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LAM: beats every method tested, CNN or transformer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IAM: best except one model pretrained on 700M+ extra images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READ2016: competitive with the best specialized models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Compares — LAM Leaderboard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420624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+ BLSTM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+ RNN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CRNN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+ RNN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OrigamiNet-24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convolutional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(plain)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TrOCR 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(pretrained)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HTR-VT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5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+ Transformer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5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5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58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TrOCR is pretrained on ~700M extra images; every other method trains from scratch on LAM alone.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REPRODUCTION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Reproducing It — On Weaker Hardware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6184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3060 (12GB)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05740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the paper's RTX 4090 (24GB)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6700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32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10896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the paper's 128 — a memory constraint, not a choice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7216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IAM data source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1605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FKI registration never got approved in time; used an equal-sized public mirror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773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Speed-only fixes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521208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data loading + GPU auto-tuning — zero effect on accuracy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REPRODUCTION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Engineering Journey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47120" cy="1280160"/>
          </a:xfrm>
          <a:prstGeom prst="roundRect">
            <a:avLst>
              <a:gd name="adj" fmla="val 5714"/>
            </a:avLst>
          </a:prstGeom>
          <a:solidFill>
            <a:srgbClr val="F5F5F7"/>
          </a:solidFill>
          <a:ln w="12700">
            <a:solidFill>
              <a:srgbClr val="DCDC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7373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 environment file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488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dead PyPI dependency (apex==0.1) and a missing CUDA wheel index blocked setup — fixed before any training could start.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11247120" cy="1280160"/>
          </a:xfrm>
          <a:prstGeom prst="roundRect">
            <a:avLst>
              <a:gd name="adj" fmla="val 5714"/>
            </a:avLst>
          </a:prstGeom>
          <a:solidFill>
            <a:srgbClr val="F5F5F7"/>
          </a:solidFill>
          <a:ln w="12700">
            <a:solidFill>
              <a:srgbClr val="DCDC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20040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sat idle 40% of the time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6118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single-threaded data loading stalled the GPU. Parallel workers + cuDNN autotuning cut iteration time ~18%, free.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4526280"/>
            <a:ext cx="11247120" cy="1280160"/>
          </a:xfrm>
          <a:prstGeom prst="roundRect">
            <a:avLst>
              <a:gd name="adj" fmla="val 5714"/>
            </a:avLst>
          </a:prstGeom>
          <a:solidFill>
            <a:srgbClr val="F5F5F7"/>
          </a:solidFill>
          <a:ln w="12700">
            <a:solidFill>
              <a:srgbClr val="DCDC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846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6634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Mid-run system reboot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507492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unexpected reboot killed a run at 84% complete, with no checkpoint-resume support — added a cron watchdog to auto-restart future runs.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REPRODUCTION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a Usable IAM 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5F5F7"/>
          </a:solidFill>
          <a:ln w="12700">
            <a:solidFill>
              <a:srgbClr val="DCDC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01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7099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FKI registration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305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the real IAM database — account verification never arrived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464040" y="1984248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F5F5F7"/>
          </a:solidFill>
          <a:ln w="12700">
            <a:solidFill>
              <a:srgbClr val="DCDC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464040" y="19842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5F5F7"/>
          </a:solidFill>
          <a:ln w="12700">
            <a:solidFill>
              <a:srgbClr val="DCDC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319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1272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 mirror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54787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Freely downloadable, but word-level crops, not the line-level split this project needs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464040" y="3401568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F5F5F7"/>
          </a:solidFill>
          <a:ln w="12700">
            <a:solidFill>
              <a:srgbClr val="DCDC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64040" y="34015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granularity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5F5F7"/>
          </a:solidFill>
          <a:ln w="12700">
            <a:solidFill>
              <a:srgbClr val="DCDC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736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5445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Teklia HuggingFace mirror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9651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licensed; split sizes (6,482 / 976 / 2,915) and charset (79) matched the official split exactly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464040" y="4818888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64040" y="48188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REPRODUCTION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Core Claim Still Hold Up?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78638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49640" y="1554480"/>
            <a:ext cx="3154680" cy="4480560"/>
          </a:xfrm>
          <a:prstGeom prst="roundRect">
            <a:avLst>
              <a:gd name="adj" fmla="val 2319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77824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READ2016 gap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2103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≈0.04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identical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claim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3520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Holds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8778240" y="411480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at 1/4 the paper's batch size, on a much smaller GPU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PAPER — EXPERIMENT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Cross-Dataset Generalization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train on one dataset, then run the resulting checkpoint directly on another dataset's test images — no retraining. Decoding uses the source model's own character vocabulary.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3200400" cy="3429000"/>
          </a:xfrm>
          <a:prstGeom prst="roundRect">
            <a:avLst>
              <a:gd name="adj" fmla="val 2286"/>
            </a:avLst>
          </a:prstGeom>
          <a:solidFill>
            <a:srgbClr val="F5F5F7"/>
          </a:solidFill>
          <a:ln w="12700">
            <a:solidFill>
              <a:srgbClr val="DCDC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97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3–5%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CER, previous slide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3520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80560" y="2148840"/>
            <a:ext cx="3200400" cy="3429000"/>
          </a:xfrm>
          <a:prstGeom prst="roundRect">
            <a:avLst>
              <a:gd name="adj" fmla="val 2286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697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37–79%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— 10–20× worse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01000" y="2148840"/>
            <a:ext cx="3703320" cy="3429000"/>
          </a:xfrm>
          <a:prstGeom prst="roundRect">
            <a:avLst>
              <a:gd name="adj" fmla="val 2133"/>
            </a:avLst>
          </a:prstGeom>
          <a:solidFill>
            <a:srgbClr val="F5F5F7"/>
          </a:solidFill>
          <a:ln w="12700">
            <a:solidFill>
              <a:srgbClr val="DCDC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2834640"/>
            <a:ext cx="3246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1–3.5% of the gap comes from vocabulary differences between datasets.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is genuine failure to transfer across handwriting styles, eras, and languages.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PAPER — EXPERIMENT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 to Image Corruption (IAM)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apply blur, rotation, and contrast changes to test images at inference time, using the already-trained checkpoint — no retraining.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6596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965960"/>
            <a:ext cx="4069080" cy="3931920"/>
          </a:xfrm>
          <a:prstGeom prst="roundRect">
            <a:avLst>
              <a:gd name="adj" fmla="val 1860"/>
            </a:avLst>
          </a:prstGeom>
          <a:solidFill>
            <a:srgbClr val="F5F5F7"/>
          </a:solidFill>
          <a:ln w="12700">
            <a:solidFill>
              <a:srgbClr val="DCDCE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pattern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69748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in the training recipe → zero effect.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 &amp; rotation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were never seen → severe degradation.
</a:t>
            </a:r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“Robustness” here is just whatever was in the augmentation list — not a property of the transformer itself.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PAPER — EXPERIMENT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Training Data Is Actually Needed? (LAM)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randomly subsample LAM's training set to 25/50/75%, holding validation and test fixed; train each fraction for the same 100,000 iterations.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65960"/>
          <a:ext cx="786384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49640" y="1965960"/>
            <a:ext cx="3154680" cy="3886200"/>
          </a:xfrm>
          <a:prstGeom prst="roundRect">
            <a:avLst>
              <a:gd name="adj" fmla="val 2319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77824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C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Diminishing returns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26060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data gets within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3611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 CER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8778240" y="41148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full-data result. Confirms — and quantifies — the paper's own data-efficiency claim, in a dimension it never tested.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2735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A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9385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Reproduction: faithful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claim holds on weaker hardware — within 0.05–0.5 CER of every reported number.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27358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A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19385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Generalization: fails hard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6974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10–20× worse CER across datasets — the model doesn't transfer across handwriting styles.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27358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315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A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3159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Robustness: recipe-dependent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0749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robust to corruptions that happened to be in the training augmentation list.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40233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27358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4315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A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43159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efficiency: confirmed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50749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LAM's data already reaches within 0.05 CER of the full-data result.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items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7452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substitute isn't verified line-for-line identical to the official FKI split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32 vs. the paper's 128 — gradient accumulation could close this exactly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Reduced-data experiment run only on LAM, not IAM or READ2016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extensions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874520"/>
            <a:ext cx="5394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tested on 3 corruption types — real scanner artifacts may differ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tested zero-shot only — light fine-tuning could reveal how much adaptation is needed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datasets are Western-script — unclear if findings hold for other writing systems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methodology, code, and numeric tables: RESULTS.md in the project repository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2026-09-30T19:29:22Z</dcterms:created>
  <dcterms:modified xsi:type="dcterms:W3CDTF">2026-09-30T19:29:22Z</dcterms:modified>
</cp:coreProperties>
</file>